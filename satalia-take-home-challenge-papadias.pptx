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7470C1-3E80-A9EB-2638-C1DF581F1D5D}" v="1285" dt="2026-06-25T22:51:42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SFT overconfidence: the fine-tune is trained to emit a single hard True/False token, which pushes its raw probabilities toward 0/1 — so raw confidence is systematically overconfident (raw ECE 0.280 on test). Temperature scaling = divide the model's logits by one scalar T (fit on the validation split) before the softmax; T&gt;1 softens the distribution and removes the overconfidence. It is monotonic, so it never changes which class wins — accuracy is unchanged; only the confidence numbers become honest. Here it cuts ECE ~10x: 0.280 → 0.027. I fit several calibrators on validation and selected the best (temperature won). Why not isotonic? It needs more data and would overfit ~1,900 rows. Say it cold: calibration doesn't change the answer or the accuracy — it makes the confidence number trustworthy.</a:t>
            </a:r>
          </a:p>
          <a:p/>
          <a:p>
            <a:r>
              <a:t>Secondary cross-model point: even after both are calibrated, the fine-tuned model is better calibrated than the zero-shot baseline (ECE 0.027 vs 0.053).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2667-73F1-3F5A-2FD1-3C5E7D18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Problem &amp; Its Real Ceiling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37482-C396-AB2D-7856-D66B856D9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Classify public statements as </a:t>
            </a:r>
            <a:r>
              <a:rPr lang="en-US" i="1">
                <a:ea typeface="+mn-lt"/>
                <a:cs typeface="+mn-lt"/>
              </a:rPr>
              <a:t>True/False</a:t>
            </a:r>
            <a:r>
              <a:rPr lang="en-US">
                <a:ea typeface="+mn-lt"/>
                <a:cs typeface="+mn-lt"/>
              </a:rPr>
              <a:t> from text + metadata (speaker, party, subjects, context)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This is a low-ceiling task: </a:t>
            </a:r>
            <a:r>
              <a:rPr lang="en-US" b="1">
                <a:ea typeface="+mn-lt"/>
                <a:cs typeface="+mn-lt"/>
              </a:rPr>
              <a:t>~62–69% binary accuracy</a:t>
            </a:r>
            <a:r>
              <a:rPr lang="en-US">
                <a:ea typeface="+mn-lt"/>
                <a:cs typeface="+mn-lt"/>
              </a:rPr>
              <a:t> across model families and methods [1]</a:t>
            </a:r>
            <a:endParaRPr lang="en-US" baseline="3000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Why:</a:t>
            </a:r>
            <a:r>
              <a:rPr lang="en-US">
                <a:ea typeface="+mn-lt"/>
                <a:cs typeface="+mn-lt"/>
              </a:rPr>
              <a:t> verifying claims needs external world knowledge the text lacks; human truth labels are judgment calls with limited agreement; some statements aren't verifiable from inputs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Aim:</a:t>
            </a:r>
            <a:r>
              <a:rPr lang="en-US" dirty="0">
                <a:ea typeface="+mn-lt"/>
                <a:cs typeface="+mn-lt"/>
              </a:rPr>
              <a:t> a principled </a:t>
            </a:r>
            <a:r>
              <a:rPr lang="en-US">
                <a:ea typeface="+mn-lt"/>
                <a:cs typeface="+mn-lt"/>
              </a:rPr>
              <a:t>LLM</a:t>
            </a:r>
            <a:r>
              <a:rPr lang="en-US" dirty="0">
                <a:ea typeface="+mn-lt"/>
                <a:cs typeface="+mn-lt"/>
              </a:rPr>
              <a:t>-based evaluation pipeline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7565A-96AE-1BB8-EFE6-78F0DE70046C}"/>
              </a:ext>
            </a:extLst>
          </p:cNvPr>
          <p:cNvSpPr txBox="1"/>
          <p:nvPr/>
        </p:nvSpPr>
        <p:spPr>
          <a:xfrm>
            <a:off x="836432" y="6473137"/>
            <a:ext cx="105155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[1] Yu et al., Open, Closed, or Small Language Models for Text Classification?, In </a:t>
            </a:r>
            <a:r>
              <a:rPr lang="en-US" sz="1600" i="1">
                <a:ea typeface="+mn-lt"/>
                <a:cs typeface="+mn-lt"/>
              </a:rPr>
              <a:t>Arxiv'23</a:t>
            </a:r>
          </a:p>
        </p:txBody>
      </p:sp>
    </p:spTree>
    <p:extLst>
      <p:ext uri="{BB962C8B-B14F-4D97-AF65-F5344CB8AC3E}">
        <p14:creationId xmlns:p14="http://schemas.microsoft.com/office/powerpoint/2010/main" val="129390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8A79-92EB-F052-43E4-5CA1626D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Mapping the 6 Labels To Binary Classification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1B907-2015-8E3E-E08F-DDA1783D3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Source: 6 ordinal truthfulness levels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Middle split:</a:t>
            </a:r>
            <a:r>
              <a:rPr lang="en-US">
                <a:ea typeface="+mn-lt"/>
                <a:cs typeface="+mn-lt"/>
              </a:rPr>
              <a:t> 3 truer → True, 3 falser → False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Why:</a:t>
            </a:r>
            <a:r>
              <a:rPr lang="en-US">
                <a:ea typeface="+mn-lt"/>
                <a:cs typeface="+mn-lt"/>
              </a:rPr>
              <a:t> near-balanced target (≈56/44) keeps accuracy meaningful, no majority-class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Sensitivity check:</a:t>
            </a:r>
            <a:r>
              <a:rPr lang="en-US">
                <a:ea typeface="+mn-lt"/>
                <a:cs typeface="+mn-lt"/>
              </a:rPr>
              <a:t> moving ambiguous "half-true" to False leaves conclusions unchanged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473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9533-9AC4-326D-04FD-A2B9EB4E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Integrity: Split That Prevents Cheating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5936E-3B08-06B8-EBFD-26785DFA4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Naive random splits leak:</a:t>
            </a:r>
            <a:r>
              <a:rPr lang="en-US" dirty="0">
                <a:ea typeface="+mn-lt"/>
                <a:cs typeface="+mn-lt"/>
              </a:rPr>
              <a:t> frequent speakers appear in train and test → model learns "this person lies" not the claim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My split </a:t>
            </a:r>
            <a:r>
              <a:rPr lang="en-US">
                <a:ea typeface="+mn-lt"/>
                <a:cs typeface="+mn-lt"/>
              </a:rPr>
              <a:t>is the 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following: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Dropped contradictory duplicates (identical text, conflicting labels) 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Train </a:t>
            </a:r>
            <a:r>
              <a:rPr lang="en-US" b="1" dirty="0">
                <a:ea typeface="+mn-lt"/>
                <a:cs typeface="+mn-lt"/>
              </a:rPr>
              <a:t>5710 </a:t>
            </a:r>
            <a:r>
              <a:rPr lang="en-US" dirty="0">
                <a:ea typeface="+mn-lt"/>
                <a:cs typeface="+mn-lt"/>
              </a:rPr>
              <a:t>/ Val </a:t>
            </a:r>
            <a:r>
              <a:rPr lang="en-US" b="1" dirty="0">
                <a:ea typeface="+mn-lt"/>
                <a:cs typeface="+mn-lt"/>
              </a:rPr>
              <a:t>1917</a:t>
            </a:r>
            <a:r>
              <a:rPr lang="en-US" dirty="0">
                <a:ea typeface="+mn-lt"/>
                <a:cs typeface="+mn-lt"/>
              </a:rPr>
              <a:t> / </a:t>
            </a:r>
            <a:r>
              <a:rPr lang="en-US">
                <a:ea typeface="+mn-lt"/>
                <a:cs typeface="+mn-lt"/>
              </a:rPr>
              <a:t>Test </a:t>
            </a:r>
            <a:r>
              <a:rPr lang="en-US" b="1">
                <a:ea typeface="+mn-lt"/>
                <a:cs typeface="+mn-lt"/>
              </a:rPr>
              <a:t>1991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Exhibits matched balance (True-rate 0.57 / </a:t>
            </a:r>
            <a:r>
              <a:rPr lang="en-US" dirty="0">
                <a:ea typeface="+mn-lt"/>
                <a:cs typeface="+mn-lt"/>
              </a:rPr>
              <a:t>0.55 / 0.53)</a:t>
            </a:r>
            <a:endParaRPr lang="en-US"/>
          </a:p>
          <a:p>
            <a:endParaRPr lang="en-US" dirty="0"/>
          </a:p>
        </p:txBody>
      </p:sp>
      <p:pic>
        <p:nvPicPr>
          <p:cNvPr id="4" name="Picture 3" descr="split.png">
            <a:extLst>
              <a:ext uri="{FF2B5EF4-FFF2-40B4-BE49-F238E27FC236}">
                <a16:creationId xmlns:a16="http://schemas.microsoft.com/office/drawing/2014/main" id="{1329FDAF-8C84-E81A-22C7-7F943E873E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6"/>
          <a:stretch>
            <a:fillRect/>
          </a:stretch>
        </p:blipFill>
        <p:spPr>
          <a:xfrm>
            <a:off x="2946854" y="2508932"/>
            <a:ext cx="6298293" cy="213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57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4B10-DACB-02E4-AB49-A3B91958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Evaluation Methodology: Metrics &amp; Protocol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5D99F-9AE2-9EAC-58C0-B13C8A64A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Beyond simple </a:t>
            </a:r>
            <a:r>
              <a:rPr lang="en-US" i="1">
                <a:ea typeface="+mn-lt"/>
                <a:cs typeface="+mn-lt"/>
              </a:rPr>
              <a:t>accuracy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i="1">
                <a:ea typeface="+mn-lt"/>
                <a:cs typeface="+mn-lt"/>
              </a:rPr>
              <a:t>balanced accuracy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macro-F1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i="1">
                <a:ea typeface="+mn-lt"/>
                <a:cs typeface="+mn-lt"/>
              </a:rPr>
              <a:t>ROC/PR-AUC</a:t>
            </a:r>
            <a:r>
              <a:rPr lang="en-US">
                <a:ea typeface="+mn-lt"/>
                <a:cs typeface="+mn-lt"/>
              </a:rPr>
              <a:t>, and </a:t>
            </a:r>
            <a:r>
              <a:rPr lang="en-US" i="1">
                <a:ea typeface="+mn-lt"/>
                <a:cs typeface="+mn-lt"/>
              </a:rPr>
              <a:t>calibration (Brier + ECE)</a:t>
            </a:r>
            <a:endParaRPr lang="en-US" i="1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Cost asymmetry: a false positive lets misinformation through and it is the costlier error; threshold can reflect </a:t>
            </a:r>
            <a:r>
              <a:rPr lang="en-US" dirty="0">
                <a:ea typeface="+mn-lt"/>
                <a:cs typeface="+mn-lt"/>
              </a:rPr>
              <a:t>that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Protocol: calibrator + threshold fit on validation set, reported on untouched test. Bootstrap CIs; McNemar's test for the paired comparison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4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C953-2651-E79B-4E56-EB852952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Zero-Shot Predictor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9295F-B4FE-18B5-A652-F10CE2825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Base: Gemma-4-31B-it (open; serverless on Together.ai; </a:t>
            </a:r>
            <a:r>
              <a:rPr lang="en-US" dirty="0" err="1">
                <a:ea typeface="+mn-lt"/>
                <a:cs typeface="+mn-lt"/>
              </a:rPr>
              <a:t>LoRA</a:t>
            </a:r>
            <a:r>
              <a:rPr lang="en-US" dirty="0">
                <a:ea typeface="+mn-lt"/>
                <a:cs typeface="+mn-lt"/>
              </a:rPr>
              <a:t>-fine-tunable under the same id → shared base, no confound)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Prompt: statement + metadata, missing fields marked [unknown]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Elicitation: decision + </a:t>
            </a:r>
            <a:r>
              <a:rPr lang="en-US" dirty="0" err="1">
                <a:ea typeface="+mn-lt"/>
                <a:cs typeface="+mn-lt"/>
              </a:rPr>
              <a:t>logprob</a:t>
            </a:r>
            <a:r>
              <a:rPr lang="en-US" dirty="0">
                <a:ea typeface="+mn-lt"/>
                <a:cs typeface="+mn-lt"/>
              </a:rPr>
              <a:t> — model answers True/False; confidence from the True/False token's </a:t>
            </a:r>
            <a:r>
              <a:rPr lang="en-US" i="1" dirty="0" err="1">
                <a:ea typeface="+mn-lt"/>
                <a:cs typeface="+mn-lt"/>
              </a:rPr>
              <a:t>logprob</a:t>
            </a:r>
            <a:r>
              <a:rPr lang="en-US" dirty="0">
                <a:ea typeface="+mn-lt"/>
                <a:cs typeface="+mn-lt"/>
              </a:rPr>
              <a:t> [2]</a:t>
            </a:r>
            <a:endParaRPr lang="en-US" dirty="0" err="1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Baseline (calibrated, test): acc 0.668, ECE 0.053</a:t>
            </a:r>
            <a:endParaRPr lang="en-US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F3CAF-3228-AFCA-908B-3B72E9895AC4}"/>
              </a:ext>
            </a:extLst>
          </p:cNvPr>
          <p:cNvSpPr txBox="1"/>
          <p:nvPr/>
        </p:nvSpPr>
        <p:spPr>
          <a:xfrm>
            <a:off x="836432" y="6473137"/>
            <a:ext cx="105155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[2] https://docs.together.ai/docs/inference/chat/logprobs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78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7970-9A59-63CE-5E56-6A2875B8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Fine-Tuned Predictor (</a:t>
            </a:r>
            <a:r>
              <a:rPr lang="en-US" dirty="0" err="1">
                <a:ea typeface="+mj-lt"/>
                <a:cs typeface="+mj-lt"/>
              </a:rPr>
              <a:t>LoRA</a:t>
            </a:r>
            <a:r>
              <a:rPr lang="en-US" dirty="0">
                <a:ea typeface="+mj-lt"/>
                <a:cs typeface="+mj-lt"/>
              </a:rPr>
              <a:t> SFT)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91295-BFA9-7B7E-D359-69D0BD805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 err="1">
                <a:ea typeface="+mn-lt"/>
                <a:cs typeface="+mn-lt"/>
              </a:rPr>
              <a:t>LoRA</a:t>
            </a:r>
            <a:r>
              <a:rPr lang="en-US" dirty="0">
                <a:ea typeface="+mn-lt"/>
                <a:cs typeface="+mn-lt"/>
              </a:rPr>
              <a:t> supervised fine-tuning on the same </a:t>
            </a:r>
            <a:r>
              <a:rPr lang="en-US" sz="3000" dirty="0">
                <a:ea typeface="+mn-lt"/>
                <a:cs typeface="+mn-lt"/>
              </a:rPr>
              <a:t>Gemma-4-31B-it model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Training data: conversational JSONL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>
                <a:ea typeface="+mn-lt"/>
                <a:cs typeface="+mn-lt"/>
              </a:rPr>
              <a:t>prompt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system+user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i="1" dirty="0">
                <a:ea typeface="+mn-lt"/>
                <a:cs typeface="+mn-lt"/>
              </a:rPr>
              <a:t>assistant</a:t>
            </a:r>
            <a:r>
              <a:rPr lang="en-US" dirty="0">
                <a:ea typeface="+mn-lt"/>
                <a:cs typeface="+mn-lt"/>
              </a:rPr>
              <a:t> = single True/False token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>
                <a:ea typeface="+mn-lt"/>
                <a:cs typeface="+mn-lt"/>
              </a:rPr>
              <a:t>loss </a:t>
            </a:r>
            <a:r>
              <a:rPr lang="en-US" dirty="0">
                <a:ea typeface="+mn-lt"/>
                <a:cs typeface="+mn-lt"/>
              </a:rPr>
              <a:t>on the label only (</a:t>
            </a:r>
            <a:r>
              <a:rPr lang="en-US" dirty="0" err="1">
                <a:ea typeface="+mn-lt"/>
                <a:cs typeface="+mn-lt"/>
              </a:rPr>
              <a:t>train_on_inputs</a:t>
            </a:r>
            <a:r>
              <a:rPr lang="en-US" dirty="0">
                <a:ea typeface="+mn-lt"/>
                <a:cs typeface="+mn-lt"/>
              </a:rPr>
              <a:t>=auto)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Train split only (5,710); validation file for eval-loss. Eval loss 0.32 → 0.199 over 3 epochs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Serving: fine-tuned Gemma isn't serverless, thus, we use a short-lived </a:t>
            </a:r>
            <a:r>
              <a:rPr lang="en-US">
                <a:ea typeface="+mn-lt"/>
                <a:cs typeface="+mn-lt"/>
              </a:rPr>
              <a:t>dedicated endpoint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901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051F-BD32-16B3-20BA-BDF24BE7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Fair Comparison &amp; Results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62BBB-A002-BA50-A45C-27969629C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3" y="1825625"/>
            <a:ext cx="10515600" cy="4905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Same test split, same calibration, same </a:t>
            </a:r>
            <a:r>
              <a:rPr lang="en-US" sz="1800">
                <a:ea typeface="+mn-lt"/>
                <a:cs typeface="+mn-lt"/>
              </a:rPr>
              <a:t>elicitation; only</a:t>
            </a:r>
            <a:r>
              <a:rPr lang="en-US" sz="1800" dirty="0">
                <a:ea typeface="+mn-lt"/>
                <a:cs typeface="+mn-lt"/>
              </a:rPr>
              <a:t> fine-</a:t>
            </a:r>
            <a:r>
              <a:rPr lang="en-US" sz="1800">
                <a:ea typeface="+mn-lt"/>
                <a:cs typeface="+mn-lt"/>
              </a:rPr>
              <a:t>tuning differs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8D8572-61B7-102E-645C-B980EF690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44061"/>
              </p:ext>
            </p:extLst>
          </p:nvPr>
        </p:nvGraphicFramePr>
        <p:xfrm>
          <a:off x="537028" y="2554514"/>
          <a:ext cx="1112373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3951">
                  <a:extLst>
                    <a:ext uri="{9D8B030D-6E8A-4147-A177-3AD203B41FA5}">
                      <a16:colId xmlns:a16="http://schemas.microsoft.com/office/drawing/2014/main" val="1043982215"/>
                    </a:ext>
                  </a:extLst>
                </a:gridCol>
                <a:gridCol w="932282">
                  <a:extLst>
                    <a:ext uri="{9D8B030D-6E8A-4147-A177-3AD203B41FA5}">
                      <a16:colId xmlns:a16="http://schemas.microsoft.com/office/drawing/2014/main" val="1183721618"/>
                    </a:ext>
                  </a:extLst>
                </a:gridCol>
                <a:gridCol w="1171831">
                  <a:extLst>
                    <a:ext uri="{9D8B030D-6E8A-4147-A177-3AD203B41FA5}">
                      <a16:colId xmlns:a16="http://schemas.microsoft.com/office/drawing/2014/main" val="1936539774"/>
                    </a:ext>
                  </a:extLst>
                </a:gridCol>
                <a:gridCol w="1342191">
                  <a:extLst>
                    <a:ext uri="{9D8B030D-6E8A-4147-A177-3AD203B41FA5}">
                      <a16:colId xmlns:a16="http://schemas.microsoft.com/office/drawing/2014/main" val="2522950741"/>
                    </a:ext>
                  </a:extLst>
                </a:gridCol>
                <a:gridCol w="1193639">
                  <a:extLst>
                    <a:ext uri="{9D8B030D-6E8A-4147-A177-3AD203B41FA5}">
                      <a16:colId xmlns:a16="http://schemas.microsoft.com/office/drawing/2014/main" val="2045256900"/>
                    </a:ext>
                  </a:extLst>
                </a:gridCol>
                <a:gridCol w="1169522">
                  <a:extLst>
                    <a:ext uri="{9D8B030D-6E8A-4147-A177-3AD203B41FA5}">
                      <a16:colId xmlns:a16="http://schemas.microsoft.com/office/drawing/2014/main" val="2428191204"/>
                    </a:ext>
                  </a:extLst>
                </a:gridCol>
                <a:gridCol w="795758">
                  <a:extLst>
                    <a:ext uri="{9D8B030D-6E8A-4147-A177-3AD203B41FA5}">
                      <a16:colId xmlns:a16="http://schemas.microsoft.com/office/drawing/2014/main" val="908298886"/>
                    </a:ext>
                  </a:extLst>
                </a:gridCol>
                <a:gridCol w="964557">
                  <a:extLst>
                    <a:ext uri="{9D8B030D-6E8A-4147-A177-3AD203B41FA5}">
                      <a16:colId xmlns:a16="http://schemas.microsoft.com/office/drawing/2014/main" val="3412753580"/>
                    </a:ext>
                  </a:extLst>
                </a:gridCol>
              </a:tblGrid>
              <a:tr h="30394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Predictor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Acc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Bal-Acc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Macro-F1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ROC-AUC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PR-AUC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Brier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>
                          <a:solidFill>
                            <a:schemeClr val="tx1"/>
                          </a:solidFill>
                        </a:rPr>
                        <a:t>ECE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961415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Zero-shot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(decision/</a:t>
                      </a:r>
                      <a:r>
                        <a:rPr lang="en-US" sz="18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logprob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)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0.668</a:t>
                      </a:r>
                      <a:endParaRPr lang="en-US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0.662</a:t>
                      </a:r>
                      <a:endParaRPr lang="en-US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0.662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0.711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0.679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0.217</a:t>
                      </a:r>
                      <a:endParaRPr lang="en-US" u="sng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u="sng">
                          <a:solidFill>
                            <a:schemeClr val="tx1"/>
                          </a:solidFill>
                        </a:rPr>
                        <a:t>0.053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46817"/>
                  </a:ext>
                </a:extLst>
              </a:tr>
              <a:tr h="30394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Fine-tuned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(</a:t>
                      </a:r>
                      <a:r>
                        <a:rPr lang="en-US" sz="1800" b="0" i="0" u="none" strike="noStrike" noProof="0" dirty="0" err="1">
                          <a:solidFill>
                            <a:schemeClr val="tx1"/>
                          </a:solidFill>
                          <a:latin typeface="Aptos"/>
                        </a:rPr>
                        <a:t>LoRA</a:t>
                      </a:r>
                      <a:r>
                        <a:rPr lang="en-US" sz="1800" b="0" i="0" u="none" strike="noStrike" noProof="0" dirty="0">
                          <a:solidFill>
                            <a:schemeClr val="tx1"/>
                          </a:solidFill>
                          <a:latin typeface="Aptos"/>
                        </a:rPr>
                        <a:t> SFT, decision)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0.701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0.695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0.696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0.749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0.716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0.201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0.027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982671"/>
                  </a:ext>
                </a:extLst>
              </a:tr>
              <a:tr h="53191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</a:rPr>
                        <a:t>Zero-shot (score)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0.700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0.699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0.699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0.715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r">
                        <a:buNone/>
                      </a:pPr>
                      <a:endParaRPr lang="en-US" sz="1800" b="0" i="0" u="none" strike="noStrike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0.660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0.225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r">
                        <a:buNone/>
                      </a:pP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0.117</a:t>
                      </a:r>
                      <a:endParaRPr lang="en-US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52350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ECF270-D79D-A102-60A7-EBFD35D98732}"/>
              </a:ext>
            </a:extLst>
          </p:cNvPr>
          <p:cNvSpPr txBox="1">
            <a:spLocks/>
          </p:cNvSpPr>
          <p:nvPr/>
        </p:nvSpPr>
        <p:spPr>
          <a:xfrm>
            <a:off x="838200" y="4706711"/>
            <a:ext cx="10515600" cy="10130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a typeface="+mn-lt"/>
                <a:cs typeface="+mn-lt"/>
              </a:rPr>
              <a:t>Clean fine-tuning effect (matched elicitation):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Δacc</a:t>
            </a:r>
            <a:r>
              <a:rPr lang="en-US" dirty="0">
                <a:ea typeface="+mn-lt"/>
                <a:cs typeface="+mn-lt"/>
              </a:rPr>
              <a:t> +0.033 [+0.021, +0.045], McNemar p &lt; 0.001. Calibration: ECE 0.053 → 0.027.</a:t>
            </a:r>
          </a:p>
          <a:p>
            <a:r>
              <a:rPr lang="en-US" b="1">
                <a:ea typeface="+mn-lt"/>
                <a:cs typeface="+mn-lt"/>
              </a:rPr>
              <a:t>Secondary (score-mode):</a:t>
            </a:r>
            <a:r>
              <a:rPr lang="en-US">
                <a:ea typeface="+mn-lt"/>
                <a:cs typeface="+mn-lt"/>
              </a:rPr>
              <a:t> highest accuracy yet ~4x </a:t>
            </a:r>
            <a:r>
              <a:rPr lang="en-US" dirty="0">
                <a:ea typeface="+mn-lt"/>
                <a:cs typeface="+mn-lt"/>
              </a:rPr>
              <a:t>worse calibrated (ECE 0.117 vs 0.027) — accuracy </a:t>
            </a:r>
            <a:r>
              <a:rPr lang="en-US">
                <a:ea typeface="+mn-lt"/>
                <a:cs typeface="+mn-lt"/>
              </a:rPr>
              <a:t>≠ trustworthiness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18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6CEB-89FE-A899-0506-26CEC1BB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Calibration: The Real Win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76F62-4D74-1D4D-11F6-2C5009EDD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6142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Raw fine-tuned confidence is badly overconfident (SFT pushes probabilities toward 0/1); temperature scaling, fit on validation, corrects it: fine-tuned ECE 0.280 → 0.027 on test (~10× reduction); reliability curve moves onto the diagonal.</a:t>
            </a:r>
            <a:r>
              <a:rPr lang="en-US" sz="2400" dirty="0" err="1"/>
              <a:t/>
            </a:r>
            <a:r>
              <a:rPr lang="en-US" sz="2400" dirty="0"/>
              <a:t/>
            </a:r>
          </a:p>
          <a:p>
            <a:endParaRPr lang="en-US" sz="2400" dirty="0"/>
          </a:p>
          <a:p>
            <a:r>
              <a:rPr lang="en-US" sz="2400" dirty="0"/>
              <a:t>For a tool that acts on confidence (abstain, escalate, flag), trustworthy probabilities are the operationally useful property.</a:t>
            </a:r>
            <a:r>
              <a:rPr lang="en-US" sz="2400"/>
              <a:t/>
            </a:r>
            <a:r>
              <a:rPr lang="en-US" sz="2400" dirty="0"/>
              <a:t/>
            </a:r>
          </a:p>
          <a:p>
            <a:endParaRPr lang="en-US" sz="2400" dirty="0"/>
          </a:p>
          <a:p>
            <a:r>
              <a:rPr lang="en-US" sz="1200" i="1">
                <a:solidFill>
                  <a:srgbClr val="7A7A7A"/>
                </a:solidFill>
              </a:rPr>
              <a:t>Secondary: even after both are calibrated, the fine-tuned model is better calibrated than the zero-shot baseline (ECE 0.027 vs 0.053).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reliability_ft_raw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579" y="1823130"/>
            <a:ext cx="476977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49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5361-4B7B-CE4B-CE99-514C5F78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Explainer: Faithful Attribution Beats Plausible Stories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AD656-5C41-CAC7-0629-DD494988E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0686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>
                <a:ea typeface="+mn-lt"/>
                <a:cs typeface="+mn-lt"/>
              </a:rPr>
              <a:t>explain</a:t>
            </a:r>
            <a:r>
              <a:rPr lang="en-US" sz="1600">
                <a:ea typeface="+mn-lt"/>
                <a:cs typeface="+mn-lt"/>
              </a:rPr>
              <a:t>(model, points, labels): model-agnostic, either predictor</a:t>
            </a:r>
            <a:endParaRPr lang="en-US" sz="1600" dirty="0"/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Two </a:t>
            </a:r>
            <a:r>
              <a:rPr lang="en-US" sz="1600" b="1">
                <a:ea typeface="+mn-lt"/>
                <a:cs typeface="+mn-lt"/>
              </a:rPr>
              <a:t>layers 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i="1">
                <a:ea typeface="+mn-lt"/>
                <a:cs typeface="+mn-lt"/>
              </a:rPr>
              <a:t>1) leave-one-field-out occlusion</a:t>
            </a:r>
            <a:r>
              <a:rPr lang="en-US" sz="1600">
                <a:ea typeface="+mn-lt"/>
                <a:cs typeface="+mn-lt"/>
              </a:rPr>
              <a:t> (faithful by construction)  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2) </a:t>
            </a:r>
            <a:r>
              <a:rPr lang="en-US" sz="1600" i="1">
                <a:ea typeface="+mn-lt"/>
                <a:cs typeface="+mn-lt"/>
              </a:rPr>
              <a:t>model's </a:t>
            </a:r>
            <a:r>
              <a:rPr lang="en-US" sz="1600" i="1" dirty="0">
                <a:ea typeface="+mn-lt"/>
                <a:cs typeface="+mn-lt"/>
              </a:rPr>
              <a:t>own rationale</a:t>
            </a:r>
            <a:r>
              <a:rPr lang="en-US" sz="1600" dirty="0">
                <a:ea typeface="+mn-lt"/>
                <a:cs typeface="+mn-lt"/>
              </a:rPr>
              <a:t> (plausible, not necessarily faithful)</a:t>
            </a:r>
            <a:endParaRPr lang="en-US" sz="1600" dirty="0"/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b="1">
                <a:ea typeface="+mn-lt"/>
                <a:cs typeface="+mn-lt"/>
              </a:rPr>
              <a:t>Findings</a:t>
            </a:r>
            <a:endParaRPr lang="en-US" sz="16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removing speaker flips 8.3% of predictions</a:t>
            </a:r>
            <a:endParaRPr lang="en-US" sz="16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removing all metadata 12.3% </a:t>
            </a:r>
            <a:endParaRPr lang="en-US" sz="16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rationales only ~46% faithful to the true driver</a:t>
            </a:r>
            <a:endParaRPr lang="en-US" sz="16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speaker-driven predictions less accurate 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(statement-driven 0.752 vs speaker-driven 0.625)</a:t>
            </a:r>
            <a:endParaRPr lang="en-US" sz="1600" dirty="0"/>
          </a:p>
          <a:p>
            <a:endParaRPr lang="en-US" sz="1600" dirty="0"/>
          </a:p>
        </p:txBody>
      </p:sp>
      <p:pic>
        <p:nvPicPr>
          <p:cNvPr id="4" name="Picture 3" descr="fields.png">
            <a:extLst>
              <a:ext uri="{FF2B5EF4-FFF2-40B4-BE49-F238E27FC236}">
                <a16:creationId xmlns:a16="http://schemas.microsoft.com/office/drawing/2014/main" id="{6ED506D0-FC32-335F-02FB-133738EB4F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30"/>
          <a:stretch>
            <a:fillRect/>
          </a:stretch>
        </p:blipFill>
        <p:spPr>
          <a:xfrm>
            <a:off x="6875689" y="1341892"/>
            <a:ext cx="4340689" cy="2657475"/>
          </a:xfrm>
          <a:prstGeom prst="rect">
            <a:avLst/>
          </a:prstGeom>
        </p:spPr>
      </p:pic>
      <p:pic>
        <p:nvPicPr>
          <p:cNvPr id="5" name="Picture 4" descr="drivers.png">
            <a:extLst>
              <a:ext uri="{FF2B5EF4-FFF2-40B4-BE49-F238E27FC236}">
                <a16:creationId xmlns:a16="http://schemas.microsoft.com/office/drawing/2014/main" id="{2EF86B9B-9B99-01A8-0C7A-9ECADC0F28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91"/>
          <a:stretch>
            <a:fillRect/>
          </a:stretch>
        </p:blipFill>
        <p:spPr>
          <a:xfrm>
            <a:off x="6875690" y="4085771"/>
            <a:ext cx="4340679" cy="255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98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AF84-8D94-5B7C-751D-D9891B50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Findings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C79B1-C936-7839-8727-63A853487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>
                <a:ea typeface="+mn-lt"/>
                <a:cs typeface="+mn-lt"/>
              </a:rPr>
              <a:t>Findings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 low-ceiling task evaluated leakage-free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fine-tuning gave a significant accuracy gain (+3.3 pts, p&lt;0.001) over zero-shot and halved calibration error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the explainer exposed a speaker shortcut that hurts and showed self-rationales are unreliable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Future work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logprob</a:t>
            </a:r>
            <a:r>
              <a:rPr lang="en-US" dirty="0">
                <a:ea typeface="+mn-lt"/>
                <a:cs typeface="+mn-lt"/>
              </a:rPr>
              <a:t> elicitation everywhere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richer calibration (isotonic)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n-lt"/>
                <a:cs typeface="+mn-lt"/>
              </a:rPr>
              <a:t>ensembling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i="1" dirty="0">
                <a:ea typeface="+mn-lt"/>
                <a:cs typeface="+mn-lt"/>
              </a:rPr>
              <a:t>zero-shot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i="1" dirty="0">
                <a:ea typeface="+mn-lt"/>
                <a:cs typeface="+mn-lt"/>
              </a:rPr>
              <a:t>fine-tuned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alternative elicitations (score-mode trade-off)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083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The Problem &amp; Its Real Ceiling</vt:lpstr>
      <vt:lpstr>Mapping the 6 Labels To Binary Classification</vt:lpstr>
      <vt:lpstr>Data Integrity: Split That Prevents Cheating</vt:lpstr>
      <vt:lpstr>Evaluation Methodology: Metrics &amp; Protocol</vt:lpstr>
      <vt:lpstr>Zero-Shot Predictor</vt:lpstr>
      <vt:lpstr>Fine-Tuned Predictor (LoRA SFT)</vt:lpstr>
      <vt:lpstr>The Fair Comparison &amp; Results</vt:lpstr>
      <vt:lpstr>Calibration: The Real Win</vt:lpstr>
      <vt:lpstr>Explainer: Faithful Attribution Beats Plausible Stories</vt:lpstr>
      <vt:lpstr>Findings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417</cp:revision>
  <dcterms:created xsi:type="dcterms:W3CDTF">2026-06-25T15:21:47Z</dcterms:created>
  <dcterms:modified xsi:type="dcterms:W3CDTF">2026-06-25T22:52:10Z</dcterms:modified>
</cp:coreProperties>
</file>